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74" r:id="rId2"/>
    <p:sldId id="259" r:id="rId3"/>
    <p:sldId id="258" r:id="rId4"/>
    <p:sldId id="268" r:id="rId5"/>
    <p:sldId id="277" r:id="rId6"/>
    <p:sldId id="278" r:id="rId7"/>
    <p:sldId id="279" r:id="rId8"/>
    <p:sldId id="262" r:id="rId9"/>
    <p:sldId id="280" r:id="rId10"/>
    <p:sldId id="261" r:id="rId11"/>
  </p:sldIdLst>
  <p:sldSz cx="12192000" cy="6858000"/>
  <p:notesSz cx="6858000" cy="9144000"/>
  <p:embeddedFontLst>
    <p:embeddedFont>
      <p:font typeface="Archivo Narrow" panose="020B0604020202020204" charset="0"/>
      <p:regular r:id="rId13"/>
      <p:bold r:id="rId14"/>
      <p:italic r:id="rId15"/>
      <p:boldItalic r:id="rId16"/>
    </p:embeddedFont>
    <p:embeddedFont>
      <p:font typeface="Archivo Narrow Medium" panose="020B0604020202020204" charset="0"/>
      <p:regular r:id="rId17"/>
      <p:bold r:id="rId18"/>
      <p:italic r:id="rId19"/>
      <p:boldItalic r:id="rId20"/>
    </p:embeddedFont>
    <p:embeddedFont>
      <p:font typeface="Georgia" panose="02040502050405020303" pitchFamily="18" charset="0"/>
      <p:regular r:id="rId21"/>
      <p:bold r:id="rId22"/>
      <p:italic r:id="rId23"/>
      <p:boldItalic r:id="rId24"/>
    </p:embeddedFont>
    <p:embeddedFont>
      <p:font typeface="IBM Plex Sans Condensed" panose="020B0506050203000203" pitchFamily="34" charset="0"/>
      <p:regular r:id="rId25"/>
      <p:bold r:id="rId26"/>
      <p:italic r:id="rId27"/>
      <p:boldItalic r:id="rId28"/>
    </p:embeddedFont>
    <p:embeddedFont>
      <p:font typeface="Yellowtail" panose="020B0604020202020204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24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0503800d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0503800d2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g330503800d2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8a61f53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8a61f53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e8a61f534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8a61f53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8a61f53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e8a61f534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8a61f53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8a61f53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e8a61f534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8a61f53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8a61f53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e8a61f534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8a61f53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8a61f53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e8a61f534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415600" y="1886797"/>
            <a:ext cx="11360700" cy="18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-9450" y="-30350"/>
            <a:ext cx="12209100" cy="7371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-9325" y="154075"/>
            <a:ext cx="12216600" cy="1282500"/>
          </a:xfrm>
          <a:prstGeom prst="roundRect">
            <a:avLst>
              <a:gd name="adj" fmla="val 10177"/>
            </a:avLst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0763550" y="-30350"/>
            <a:ext cx="868800" cy="1467000"/>
          </a:xfrm>
          <a:prstGeom prst="parallelogram">
            <a:avLst>
              <a:gd name="adj" fmla="val 57856"/>
            </a:avLst>
          </a:prstGeom>
          <a:solidFill>
            <a:srgbClr val="D2AE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7714000" y="-30350"/>
            <a:ext cx="3841800" cy="1488900"/>
          </a:xfrm>
          <a:prstGeom prst="parallelogram">
            <a:avLst>
              <a:gd name="adj" fmla="val 3392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-9325" y="6604519"/>
            <a:ext cx="12216600" cy="2598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-9325" y="5899575"/>
            <a:ext cx="12216600" cy="737100"/>
          </a:xfrm>
          <a:prstGeom prst="roundRect">
            <a:avLst>
              <a:gd name="adj" fmla="val 10177"/>
            </a:avLst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381000" y="5899575"/>
            <a:ext cx="3810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1" i="0" u="none" strike="noStrike" cap="non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Mission</a:t>
            </a:r>
            <a:endParaRPr sz="1500" b="1" i="0" u="none" strike="noStrike" cap="non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Christ University is a nurturing ground for an individual’s holistic development to make effective contribution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to the society in a dynamic environment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4191000" y="5899575"/>
            <a:ext cx="3810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1" i="0" u="none" strike="noStrike" cap="non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Vision</a:t>
            </a:r>
            <a:endParaRPr sz="1500" b="1" i="0" u="none" strike="noStrike" cap="non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Excellence and Service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8572600" y="5899575"/>
            <a:ext cx="29832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1" i="0" u="none" strike="noStrike" cap="non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Core Values</a:t>
            </a:r>
            <a:endParaRPr sz="1500" b="1" i="0" u="none" strike="noStrike" cap="non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Faith in God |  Moral Uprightness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 Love of Fellow Beings |  Social Responsibility</a:t>
            </a:r>
            <a:b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</a:b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Pursuit of Excellence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pic>
        <p:nvPicPr>
          <p:cNvPr id="32" name="Google Shape;32;p2" title="CU logo GBT_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4061" y="329612"/>
            <a:ext cx="3118595" cy="10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body" idx="1"/>
          </p:nvPr>
        </p:nvSpPr>
        <p:spPr>
          <a:xfrm>
            <a:off x="415600" y="1419388"/>
            <a:ext cx="11360700" cy="46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L="914400" lvl="1" indent="-3937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L="1371600" lvl="2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marL="1828800" lvl="3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marL="2286000" lvl="4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marL="2743200" lvl="5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marL="3200400" lvl="6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marL="3657600" lvl="7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marL="4114800" lvl="8" indent="-3810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3"/>
          <p:cNvSpPr txBox="1"/>
          <p:nvPr/>
        </p:nvSpPr>
        <p:spPr>
          <a:xfrm>
            <a:off x="11585175" y="6515100"/>
            <a:ext cx="532800" cy="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415600" y="1536625"/>
            <a:ext cx="5333100" cy="4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2"/>
          </p:nvPr>
        </p:nvSpPr>
        <p:spPr>
          <a:xfrm>
            <a:off x="6443200" y="1536625"/>
            <a:ext cx="5333100" cy="4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" name="Google Shape;46;p5"/>
          <p:cNvSpPr/>
          <p:nvPr/>
        </p:nvSpPr>
        <p:spPr>
          <a:xfrm rot="10800000">
            <a:off x="-2833" y="-25"/>
            <a:ext cx="122067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70782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6096000" y="272150"/>
            <a:ext cx="6096000" cy="613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937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415600" y="5773325"/>
            <a:ext cx="79983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406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937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691079" y="725951"/>
            <a:ext cx="10325100" cy="1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>
            <a:off x="691079" y="2340131"/>
            <a:ext cx="10325100" cy="3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350"/>
              <a:buChar char="▪"/>
              <a:defRPr/>
            </a:lvl1pPr>
            <a:lvl2pPr marL="914400" lvl="1" indent="-31432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marL="1371600" lvl="2" indent="-31432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marL="1828800" lvl="3" indent="-31432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1432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11003649" y="6215870"/>
            <a:ext cx="9792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356875"/>
            <a:ext cx="11360700" cy="47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Sans Condensed"/>
              <a:buChar char="●"/>
              <a:defRPr sz="28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IBM Plex Sans Condensed"/>
              <a:buChar char="○"/>
              <a:defRPr sz="26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chivo Narrow"/>
              <a:buChar char="■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0" y="-9719"/>
            <a:ext cx="12192000" cy="2619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6615550"/>
            <a:ext cx="12192000" cy="2619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50" y="6387300"/>
            <a:ext cx="12192000" cy="353400"/>
          </a:xfrm>
          <a:prstGeom prst="roundRect">
            <a:avLst>
              <a:gd name="adj" fmla="val 16667"/>
            </a:avLst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5" name="Google Shape;15;p1"/>
          <p:cNvSpPr txBox="1"/>
          <p:nvPr/>
        </p:nvSpPr>
        <p:spPr>
          <a:xfrm rot="-462626">
            <a:off x="8825224" y="6371287"/>
            <a:ext cx="1824597" cy="4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  <a:endParaRPr sz="1600" b="0" i="0" u="none" strike="noStrike" cap="none">
              <a:solidFill>
                <a:srgbClr val="D2AE6C"/>
              </a:solidFill>
              <a:latin typeface="Yellowtail"/>
              <a:ea typeface="Yellowtail"/>
              <a:cs typeface="Yellowtail"/>
              <a:sym typeface="Yellowtail"/>
            </a:endParaRPr>
          </a:p>
        </p:txBody>
      </p:sp>
      <p:sp>
        <p:nvSpPr>
          <p:cNvPr id="16" name="Google Shape;16;p1"/>
          <p:cNvSpPr txBox="1"/>
          <p:nvPr/>
        </p:nvSpPr>
        <p:spPr>
          <a:xfrm rot="1419">
            <a:off x="6067858" y="6448425"/>
            <a:ext cx="290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  <a:endParaRPr sz="1400" b="0" i="0" u="none" strike="noStrike" cap="none">
              <a:solidFill>
                <a:srgbClr val="CCCCC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17" name="Google Shape;17;p1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" name="Google Shape;18;p1" title="CU logo crest Gold.png"/>
          <p:cNvPicPr preferRelativeResize="0"/>
          <p:nvPr/>
        </p:nvPicPr>
        <p:blipFill>
          <a:blip r:embed="rId14">
            <a:alphaModFix amt="3000"/>
          </a:blip>
          <a:stretch>
            <a:fillRect/>
          </a:stretch>
        </p:blipFill>
        <p:spPr>
          <a:xfrm>
            <a:off x="8140250" y="2136400"/>
            <a:ext cx="3984660" cy="39688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/>
        </p:nvSpPr>
        <p:spPr>
          <a:xfrm>
            <a:off x="419100" y="3759200"/>
            <a:ext cx="113665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3A3A3A"/>
                </a:solidFill>
                <a:latin typeface="Calibri"/>
                <a:ea typeface="Calibri"/>
                <a:cs typeface="Calibri"/>
                <a:sym typeface="Times New Roman"/>
              </a:rPr>
              <a:t>A Statistical &amp; AI Dashboard for Equity and Forex Markets</a:t>
            </a:r>
            <a:endParaRPr sz="1800" i="1">
              <a:solidFill>
                <a:srgbClr val="3A3A3A"/>
              </a:solidFill>
              <a:latin typeface="Calibri"/>
              <a:ea typeface="Calibri"/>
              <a:cs typeface="Calibri"/>
              <a:sym typeface="Times New Roman"/>
            </a:endParaRPr>
          </a:p>
        </p:txBody>
      </p:sp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419100" y="2159000"/>
            <a:ext cx="11366500" cy="1524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>
                <a:solidFill>
                  <a:srgbClr val="1B4F9C"/>
                </a:solidFill>
                <a:latin typeface="Georgia"/>
                <a:ea typeface="Times New Roman"/>
                <a:cs typeface="Times New Roman"/>
                <a:sym typeface="Times New Roman"/>
              </a:rPr>
              <a:t>Quantitative Anomalies as Market Opportunities</a:t>
            </a:r>
            <a:endParaRPr sz="3600">
              <a:solidFill>
                <a:srgbClr val="1B4F9C"/>
              </a:solidFill>
              <a:latin typeface="Georgia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612AB9-77B9-4B5E-A0E4-E4379E2E422B}"/>
              </a:ext>
            </a:extLst>
          </p:cNvPr>
          <p:cNvSpPr txBox="1"/>
          <p:nvPr/>
        </p:nvSpPr>
        <p:spPr>
          <a:xfrm>
            <a:off x="419100" y="1752600"/>
            <a:ext cx="113665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IN" b="1">
                <a:solidFill>
                  <a:srgbClr val="C9A24B"/>
                </a:solidFill>
                <a:latin typeface="Calibri"/>
                <a:ea typeface="Calibri"/>
                <a:cs typeface="Calibri"/>
              </a:rPr>
              <a:t>PROGRESS PRESENTATION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F5D196-0B1F-4920-BECB-86E8E7193789}"/>
              </a:ext>
            </a:extLst>
          </p:cNvPr>
          <p:cNvSpPr/>
          <p:nvPr/>
        </p:nvSpPr>
        <p:spPr>
          <a:xfrm>
            <a:off x="5461000" y="4381500"/>
            <a:ext cx="1270000" cy="38100"/>
          </a:xfrm>
          <a:prstGeom prst="rect">
            <a:avLst/>
          </a:prstGeom>
          <a:solidFill>
            <a:srgbClr val="C9A24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9126FF-531B-456E-BE50-BFE8E0B012E7}"/>
              </a:ext>
            </a:extLst>
          </p:cNvPr>
          <p:cNvSpPr txBox="1"/>
          <p:nvPr/>
        </p:nvSpPr>
        <p:spPr>
          <a:xfrm>
            <a:off x="419100" y="4572000"/>
            <a:ext cx="113665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IN" sz="170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Aditya   ·   Jitvan   ·   Rithesh</a:t>
            </a:r>
          </a:p>
        </p:txBody>
      </p:sp>
    </p:spTree>
    <p:extLst>
      <p:ext uri="{BB962C8B-B14F-4D97-AF65-F5344CB8AC3E}">
        <p14:creationId xmlns:p14="http://schemas.microsoft.com/office/powerpoint/2010/main" val="709492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rgbClr val="1B4F9C"/>
                </a:solidFill>
                <a:latin typeface="Georgia"/>
                <a:ea typeface="Times New Roman"/>
                <a:cs typeface="Times New Roman"/>
                <a:sym typeface="Times New Roman"/>
              </a:rPr>
              <a:t>Objectives of the Study</a:t>
            </a:r>
            <a:endParaRPr sz="2800">
              <a:solidFill>
                <a:srgbClr val="1B4F9C"/>
              </a:solidFill>
              <a:latin typeface="Georgia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C4B7EA-66D6-411A-85E7-C913A42CAACD}"/>
              </a:ext>
            </a:extLst>
          </p:cNvPr>
          <p:cNvSpPr/>
          <p:nvPr/>
        </p:nvSpPr>
        <p:spPr>
          <a:xfrm>
            <a:off x="444500" y="1219200"/>
            <a:ext cx="889000" cy="38100"/>
          </a:xfrm>
          <a:prstGeom prst="rect">
            <a:avLst/>
          </a:prstGeom>
          <a:solidFill>
            <a:srgbClr val="C9A24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C8E77B-1CA9-4514-B0BA-2A8BC8E189F7}"/>
              </a:ext>
            </a:extLst>
          </p:cNvPr>
          <p:cNvSpPr/>
          <p:nvPr/>
        </p:nvSpPr>
        <p:spPr>
          <a:xfrm>
            <a:off x="609600" y="1473200"/>
            <a:ext cx="457200" cy="4572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E5743-3139-40CD-BF96-33F9E0194CBD}"/>
              </a:ext>
            </a:extLst>
          </p:cNvPr>
          <p:cNvSpPr txBox="1"/>
          <p:nvPr/>
        </p:nvSpPr>
        <p:spPr>
          <a:xfrm>
            <a:off x="1270000" y="1437625"/>
            <a:ext cx="10477500" cy="5283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B4F9C"/>
                </a:solidFill>
                <a:latin typeface="Calibri"/>
              </a:rPr>
              <a:t>Macro-driver opportunity</a:t>
            </a:r>
            <a:r>
              <a:rPr lang="en-US" sz="1600" dirty="0">
                <a:solidFill>
                  <a:srgbClr val="3A3A3A"/>
                </a:solidFill>
                <a:latin typeface="Calibri"/>
              </a:rPr>
              <a:t> — measure which macroeconomic forces move an asset's returns, and with what time lag.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243028A-043F-4819-A4CC-DB63FC7EA7F2}"/>
              </a:ext>
            </a:extLst>
          </p:cNvPr>
          <p:cNvSpPr/>
          <p:nvPr/>
        </p:nvSpPr>
        <p:spPr>
          <a:xfrm>
            <a:off x="609600" y="2387600"/>
            <a:ext cx="457200" cy="4572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B9F3B6-662F-483F-92CA-DDBCA2CA7609}"/>
              </a:ext>
            </a:extLst>
          </p:cNvPr>
          <p:cNvSpPr txBox="1"/>
          <p:nvPr/>
        </p:nvSpPr>
        <p:spPr>
          <a:xfrm>
            <a:off x="1270000" y="2350008"/>
            <a:ext cx="10477500" cy="53035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B4F9C"/>
                </a:solidFill>
                <a:latin typeface="Calibri"/>
              </a:rPr>
              <a:t>Risk-regime opportunity</a:t>
            </a:r>
            <a:r>
              <a:rPr lang="en-US" sz="1600" dirty="0">
                <a:solidFill>
                  <a:srgbClr val="3A3A3A"/>
                </a:solidFill>
                <a:latin typeface="Calibri"/>
              </a:rPr>
              <a:t> — model time-varying volatility to spot “stormy” or unusually calm regimes early.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A64B5A-12CD-48B0-9C55-08C426D8B196}"/>
              </a:ext>
            </a:extLst>
          </p:cNvPr>
          <p:cNvSpPr/>
          <p:nvPr/>
        </p:nvSpPr>
        <p:spPr>
          <a:xfrm>
            <a:off x="609600" y="3302000"/>
            <a:ext cx="457200" cy="4572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98295-6413-47A7-A297-47A568C8DD0B}"/>
              </a:ext>
            </a:extLst>
          </p:cNvPr>
          <p:cNvSpPr txBox="1"/>
          <p:nvPr/>
        </p:nvSpPr>
        <p:spPr>
          <a:xfrm>
            <a:off x="1270000" y="3266425"/>
            <a:ext cx="10477500" cy="5283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B4F9C"/>
                </a:solidFill>
                <a:latin typeface="Calibri"/>
              </a:rPr>
              <a:t>Mean-reversion opportunity</a:t>
            </a:r>
            <a:r>
              <a:rPr lang="en-US" sz="1600" dirty="0">
                <a:solidFill>
                  <a:srgbClr val="3A3A3A"/>
                </a:solidFill>
                <a:latin typeface="Calibri"/>
              </a:rPr>
              <a:t> — find cointegrated currency pairs and flag when they drift far apart — the basis of statistical arbitrage.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6A02EF-2D18-4A88-9C78-B9690D8A1B23}"/>
              </a:ext>
            </a:extLst>
          </p:cNvPr>
          <p:cNvSpPr/>
          <p:nvPr/>
        </p:nvSpPr>
        <p:spPr>
          <a:xfrm>
            <a:off x="609600" y="4216400"/>
            <a:ext cx="457200" cy="4572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4E915C-647C-4346-8745-99BE2D954342}"/>
              </a:ext>
            </a:extLst>
          </p:cNvPr>
          <p:cNvSpPr txBox="1"/>
          <p:nvPr/>
        </p:nvSpPr>
        <p:spPr>
          <a:xfrm>
            <a:off x="1270000" y="4180825"/>
            <a:ext cx="10477500" cy="5283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B4F9C"/>
                </a:solidFill>
                <a:latin typeface="Calibri"/>
              </a:rPr>
              <a:t>Valuation opportunity</a:t>
            </a:r>
            <a:r>
              <a:rPr lang="en-US" sz="1600" dirty="0">
                <a:solidFill>
                  <a:srgbClr val="3A3A3A"/>
                </a:solidFill>
                <a:latin typeface="Calibri"/>
              </a:rPr>
              <a:t> — judge whether the market is pricing risk expensively or cheaply, using an option-valuation lens.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B451D8F-04C4-4138-A2E1-F651F3F307D6}"/>
              </a:ext>
            </a:extLst>
          </p:cNvPr>
          <p:cNvSpPr/>
          <p:nvPr/>
        </p:nvSpPr>
        <p:spPr>
          <a:xfrm>
            <a:off x="609600" y="5130800"/>
            <a:ext cx="457200" cy="4572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D9490D-8A39-4DC5-9A4B-018FA2312252}"/>
              </a:ext>
            </a:extLst>
          </p:cNvPr>
          <p:cNvSpPr txBox="1"/>
          <p:nvPr/>
        </p:nvSpPr>
        <p:spPr>
          <a:xfrm>
            <a:off x="1270000" y="5095225"/>
            <a:ext cx="10477500" cy="5283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B4F9C"/>
                </a:solidFill>
                <a:latin typeface="Calibri"/>
              </a:rPr>
              <a:t>Unified scanner &amp; delivery</a:t>
            </a:r>
            <a:r>
              <a:rPr lang="en-US" sz="1600" dirty="0">
                <a:solidFill>
                  <a:srgbClr val="3A3A3A"/>
                </a:solidFill>
                <a:latin typeface="Calibri"/>
              </a:rPr>
              <a:t> — fuse all four pillars into one verdict, explained by a local AI analyst and delivered through an interactive dashboard.</a:t>
            </a:r>
          </a:p>
        </p:txBody>
      </p:sp>
    </p:spTree>
    <p:extLst>
      <p:ext uri="{BB962C8B-B14F-4D97-AF65-F5344CB8AC3E}">
        <p14:creationId xmlns:p14="http://schemas.microsoft.com/office/powerpoint/2010/main" val="2460341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rgbClr val="1B4F9C"/>
                </a:solidFill>
                <a:latin typeface="Georgia"/>
                <a:ea typeface="Times New Roman"/>
                <a:cs typeface="Times New Roman"/>
                <a:sym typeface="Times New Roman"/>
              </a:rPr>
              <a:t>Group Members &amp; Responsibilities</a:t>
            </a:r>
            <a:endParaRPr sz="2800">
              <a:solidFill>
                <a:srgbClr val="1B4F9C"/>
              </a:solidFill>
              <a:latin typeface="Georgia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F865C6-A53A-461F-ABF0-9BB3C996CB8A}"/>
              </a:ext>
            </a:extLst>
          </p:cNvPr>
          <p:cNvSpPr/>
          <p:nvPr/>
        </p:nvSpPr>
        <p:spPr>
          <a:xfrm>
            <a:off x="444500" y="1219200"/>
            <a:ext cx="889000" cy="38100"/>
          </a:xfrm>
          <a:prstGeom prst="rect">
            <a:avLst/>
          </a:prstGeom>
          <a:solidFill>
            <a:srgbClr val="C9A24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85E9E8-29FB-44A6-81DA-4C243A54B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094298"/>
              </p:ext>
            </p:extLst>
          </p:nvPr>
        </p:nvGraphicFramePr>
        <p:xfrm>
          <a:off x="419100" y="1473200"/>
          <a:ext cx="113665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3639783838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675913380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10973143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IN"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Part of the Presentation</a:t>
                      </a:r>
                    </a:p>
                  </a:txBody>
                  <a:tcPr anchor="ctr">
                    <a:solidFill>
                      <a:srgbClr val="1B4F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Content Covered</a:t>
                      </a:r>
                    </a:p>
                  </a:txBody>
                  <a:tcPr anchor="ctr">
                    <a:solidFill>
                      <a:srgbClr val="1B4F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Presenter</a:t>
                      </a:r>
                    </a:p>
                  </a:txBody>
                  <a:tcPr anchor="ctr">
                    <a:solidFill>
                      <a:srgbClr val="1B4F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9179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1B4F9C"/>
                          </a:solidFill>
                          <a:latin typeface="Calibri"/>
                          <a:ea typeface="Calibri"/>
                          <a:cs typeface="Calibri"/>
                        </a:rPr>
                        <a:t>Part 1 · Opening &amp; risk regime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2E2E2E"/>
                          </a:solidFill>
                          <a:latin typeface="Calibri"/>
                          <a:ea typeface="Calibri"/>
                          <a:cs typeface="Calibri"/>
                        </a:rPr>
                        <a:t>Title, objectives, methodology overview and the decision engine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1B4F9C"/>
                          </a:solidFill>
                          <a:latin typeface="Calibri"/>
                          <a:ea typeface="Calibri"/>
                          <a:cs typeface="Calibri"/>
                        </a:rPr>
                        <a:t>Aditya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96106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1B4F9C"/>
                          </a:solidFill>
                          <a:latin typeface="Calibri"/>
                          <a:ea typeface="Calibri"/>
                          <a:cs typeface="Calibri"/>
                        </a:rPr>
                        <a:t>Part 2 · Macro &amp; the engine</a:t>
                      </a:r>
                    </a:p>
                  </a:txBody>
                  <a:tcPr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2E2E2E"/>
                          </a:solidFill>
                          <a:latin typeface="Calibri"/>
                          <a:ea typeface="Calibri"/>
                          <a:cs typeface="Calibri"/>
                        </a:rPr>
                        <a:t>Macro-factor lag regression and GARCH</a:t>
                      </a:r>
                    </a:p>
                  </a:txBody>
                  <a:tcPr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 err="1">
                          <a:solidFill>
                            <a:srgbClr val="1B4F9C"/>
                          </a:solidFill>
                          <a:latin typeface="Calibri"/>
                          <a:ea typeface="Calibri"/>
                          <a:cs typeface="Calibri"/>
                        </a:rPr>
                        <a:t>Jitvan</a:t>
                      </a:r>
                      <a:endParaRPr lang="en-IN" sz="1400" b="1" dirty="0">
                        <a:solidFill>
                          <a:srgbClr val="1B4F9C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372128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1B4F9C"/>
                          </a:solidFill>
                          <a:latin typeface="Calibri"/>
                          <a:ea typeface="Calibri"/>
                          <a:cs typeface="Calibri"/>
                        </a:rPr>
                        <a:t>Part 3 · Pairs &amp; valuation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2E2E2E"/>
                          </a:solidFill>
                          <a:latin typeface="Calibri"/>
                          <a:ea typeface="Calibri"/>
                          <a:cs typeface="Calibri"/>
                        </a:rPr>
                        <a:t>Forex cointegration, the option-valuation outlook and Black-Scholes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1B4F9C"/>
                          </a:solidFill>
                          <a:latin typeface="Calibri"/>
                          <a:ea typeface="Calibri"/>
                          <a:cs typeface="Calibri"/>
                        </a:rPr>
                        <a:t>Rithesh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63706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1B4F9C"/>
                          </a:solidFill>
                          <a:latin typeface="Calibri"/>
                          <a:ea typeface="Calibri"/>
                          <a:cs typeface="Calibri"/>
                        </a:rPr>
                        <a:t>Shared · Data &amp; delivery</a:t>
                      </a:r>
                    </a:p>
                  </a:txBody>
                  <a:tcPr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E2E2E"/>
                          </a:solidFill>
                          <a:latin typeface="Calibri"/>
                          <a:ea typeface="Calibri"/>
                          <a:cs typeface="Calibri"/>
                        </a:rPr>
                        <a:t>Review of sources, the data pipeline and the interactive dashboard</a:t>
                      </a:r>
                    </a:p>
                  </a:txBody>
                  <a:tcPr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4F9C"/>
                          </a:solidFill>
                          <a:latin typeface="Calibri"/>
                          <a:ea typeface="Calibri"/>
                          <a:cs typeface="Calibri"/>
                        </a:rPr>
                        <a:t>All three</a:t>
                      </a:r>
                    </a:p>
                  </a:txBody>
                  <a:tcPr anchor="ctr"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15629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1B4F9C"/>
                          </a:solidFill>
                          <a:latin typeface="Calibri"/>
                          <a:ea typeface="Calibri"/>
                          <a:cs typeface="Calibri"/>
                        </a:rPr>
                        <a:t>Shared · Analysis 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E2E2E"/>
                          </a:solidFill>
                          <a:latin typeface="Calibri"/>
                          <a:ea typeface="Calibri"/>
                          <a:cs typeface="Calibri"/>
                        </a:rPr>
                        <a:t>Statistical-rigor roadmap and out-of-sample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B4F9C"/>
                          </a:solidFill>
                          <a:latin typeface="Calibri"/>
                          <a:ea typeface="Calibri"/>
                          <a:cs typeface="Calibri"/>
                        </a:rPr>
                        <a:t>All three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8122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B4F9C"/>
                </a:solidFill>
                <a:latin typeface="Georgia"/>
                <a:ea typeface="Times New Roman"/>
                <a:cs typeface="Times New Roman"/>
                <a:sym typeface="Times New Roman"/>
              </a:rPr>
              <a:t>Motivation for Selecting the Topic</a:t>
            </a:r>
            <a:endParaRPr sz="2800">
              <a:solidFill>
                <a:srgbClr val="1B4F9C"/>
              </a:solidFill>
              <a:latin typeface="Georgia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F865C6-A53A-461F-ABF0-9BB3C996CB8A}"/>
              </a:ext>
            </a:extLst>
          </p:cNvPr>
          <p:cNvSpPr/>
          <p:nvPr/>
        </p:nvSpPr>
        <p:spPr>
          <a:xfrm>
            <a:off x="444500" y="1219200"/>
            <a:ext cx="889000" cy="38100"/>
          </a:xfrm>
          <a:prstGeom prst="rect">
            <a:avLst/>
          </a:prstGeom>
          <a:solidFill>
            <a:srgbClr val="C9A24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7AECA4-B8B2-41D8-A272-F054AEE08F8E}"/>
              </a:ext>
            </a:extLst>
          </p:cNvPr>
          <p:cNvSpPr/>
          <p:nvPr/>
        </p:nvSpPr>
        <p:spPr>
          <a:xfrm>
            <a:off x="419100" y="1473200"/>
            <a:ext cx="5499100" cy="2057400"/>
          </a:xfrm>
          <a:prstGeom prst="roundRect">
            <a:avLst/>
          </a:prstGeom>
          <a:solidFill>
            <a:srgbClr val="F2F6FB"/>
          </a:solidFill>
          <a:ln w="12700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BB8E4-EF35-403C-AB04-10665CDD0337}"/>
              </a:ext>
            </a:extLst>
          </p:cNvPr>
          <p:cNvSpPr txBox="1"/>
          <p:nvPr/>
        </p:nvSpPr>
        <p:spPr>
          <a:xfrm>
            <a:off x="1358900" y="1727200"/>
            <a:ext cx="43561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70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Anomalies made tangible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F5EB29-B91F-4830-BBA5-BF3774CE858D}"/>
              </a:ext>
            </a:extLst>
          </p:cNvPr>
          <p:cNvSpPr txBox="1"/>
          <p:nvPr/>
        </p:nvSpPr>
        <p:spPr>
          <a:xfrm>
            <a:off x="698500" y="2362200"/>
            <a:ext cx="49403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Lagged macro effects, volatility clustering, fat tails and cointegration fill the literature — we make them visible and actionable, not abstract equations.</a:t>
            </a:r>
            <a:endParaRPr lang="en-IN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424AC5-388B-4DB5-B5FD-FD7F9E429B35}"/>
              </a:ext>
            </a:extLst>
          </p:cNvPr>
          <p:cNvSpPr/>
          <p:nvPr/>
        </p:nvSpPr>
        <p:spPr>
          <a:xfrm>
            <a:off x="6286500" y="1473200"/>
            <a:ext cx="5499100" cy="2057400"/>
          </a:xfrm>
          <a:prstGeom prst="roundRect">
            <a:avLst/>
          </a:prstGeom>
          <a:solidFill>
            <a:srgbClr val="F2F6FB"/>
          </a:solidFill>
          <a:ln w="12700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CD4D3-43D4-4AE0-94F4-05FAC9BD4910}"/>
              </a:ext>
            </a:extLst>
          </p:cNvPr>
          <p:cNvSpPr txBox="1"/>
          <p:nvPr/>
        </p:nvSpPr>
        <p:spPr>
          <a:xfrm>
            <a:off x="7226300" y="1727200"/>
            <a:ext cx="43561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70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Risk reframed as opportunity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FC5899-29DA-4673-B221-6B0BF2B9BE21}"/>
              </a:ext>
            </a:extLst>
          </p:cNvPr>
          <p:cNvSpPr txBox="1"/>
          <p:nvPr/>
        </p:nvSpPr>
        <p:spPr>
          <a:xfrm>
            <a:off x="6565900" y="2362200"/>
            <a:ext cx="49403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The same statistics that warn about risk can also reveal opportunity. We wanted one tool that does both.</a:t>
            </a:r>
            <a:endParaRPr lang="en-IN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DEBBC1-54EC-40AA-8ABC-2F7B7C90ACF4}"/>
              </a:ext>
            </a:extLst>
          </p:cNvPr>
          <p:cNvSpPr/>
          <p:nvPr/>
        </p:nvSpPr>
        <p:spPr>
          <a:xfrm>
            <a:off x="419100" y="3797300"/>
            <a:ext cx="5499100" cy="2057400"/>
          </a:xfrm>
          <a:prstGeom prst="roundRect">
            <a:avLst/>
          </a:prstGeom>
          <a:solidFill>
            <a:srgbClr val="F2F6FB"/>
          </a:solidFill>
          <a:ln w="12700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A10265-82BC-4C09-87E0-0E7B96E22E4D}"/>
              </a:ext>
            </a:extLst>
          </p:cNvPr>
          <p:cNvSpPr txBox="1"/>
          <p:nvPr/>
        </p:nvSpPr>
        <p:spPr>
          <a:xfrm>
            <a:off x="1358900" y="4051300"/>
            <a:ext cx="43561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70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Statistics meets modern AI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DC1AE9-3A37-480E-9A25-83854A74BD18}"/>
              </a:ext>
            </a:extLst>
          </p:cNvPr>
          <p:cNvSpPr txBox="1"/>
          <p:nvPr/>
        </p:nvSpPr>
        <p:spPr>
          <a:xfrm>
            <a:off x="698500" y="4686300"/>
            <a:ext cx="49403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Classical methods — regression, GARCH, cointegration, option pricing — paired with a local AI model that turns the numbers into a readable analyst note.</a:t>
            </a:r>
            <a:endParaRPr lang="en-IN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3DCB37B-073E-41E8-B98D-7B24A228F57F}"/>
              </a:ext>
            </a:extLst>
          </p:cNvPr>
          <p:cNvSpPr/>
          <p:nvPr/>
        </p:nvSpPr>
        <p:spPr>
          <a:xfrm>
            <a:off x="6286500" y="3797300"/>
            <a:ext cx="5499100" cy="2057400"/>
          </a:xfrm>
          <a:prstGeom prst="roundRect">
            <a:avLst/>
          </a:prstGeom>
          <a:solidFill>
            <a:srgbClr val="F2F6FB"/>
          </a:solidFill>
          <a:ln w="12700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A12586-26A2-4A05-8830-ACAB0C40113D}"/>
              </a:ext>
            </a:extLst>
          </p:cNvPr>
          <p:cNvSpPr txBox="1"/>
          <p:nvPr/>
        </p:nvSpPr>
        <p:spPr>
          <a:xfrm>
            <a:off x="7226300" y="4051300"/>
            <a:ext cx="43561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70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Strong learning value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C25B37-EB0D-48F5-A687-FFD7AE0575B7}"/>
              </a:ext>
            </a:extLst>
          </p:cNvPr>
          <p:cNvSpPr txBox="1"/>
          <p:nvPr/>
        </p:nvSpPr>
        <p:spPr>
          <a:xfrm>
            <a:off x="6565900" y="4686300"/>
            <a:ext cx="49403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Spans real statistical modelling, live financial-data engineering, full-stack web development and on-device AI.</a:t>
            </a:r>
            <a:endParaRPr lang="en-IN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8" name="Graphic 98" descr="tangible insigh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300" y="1600200"/>
            <a:ext cx="508000" cy="508000"/>
          </a:xfrm>
          <a:prstGeom prst="rect">
            <a:avLst/>
          </a:prstGeom>
        </p:spPr>
      </p:pic>
      <p:pic>
        <p:nvPicPr>
          <p:cNvPr id="99" name="Graphic 99" descr="risk opportunity bal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9700" y="1600200"/>
            <a:ext cx="508000" cy="508000"/>
          </a:xfrm>
          <a:prstGeom prst="rect">
            <a:avLst/>
          </a:prstGeom>
        </p:spPr>
      </p:pic>
      <p:pic>
        <p:nvPicPr>
          <p:cNvPr id="100" name="Graphic 100" descr="statistics and 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300" y="3924300"/>
            <a:ext cx="508000" cy="508000"/>
          </a:xfrm>
          <a:prstGeom prst="rect">
            <a:avLst/>
          </a:prstGeom>
        </p:spPr>
      </p:pic>
      <p:pic>
        <p:nvPicPr>
          <p:cNvPr id="101" name="Graphic 101" descr="learning valu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9700" y="39243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84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B4F9C"/>
                </a:solidFill>
                <a:latin typeface="Georgia"/>
                <a:ea typeface="Times New Roman"/>
                <a:cs typeface="Times New Roman"/>
                <a:sym typeface="Times New Roman"/>
              </a:rPr>
              <a:t>Literature Review of Our Data Sources</a:t>
            </a:r>
            <a:endParaRPr sz="2600">
              <a:solidFill>
                <a:srgbClr val="1B4F9C"/>
              </a:solidFill>
              <a:latin typeface="Georgia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F865C6-A53A-461F-ABF0-9BB3C996CB8A}"/>
              </a:ext>
            </a:extLst>
          </p:cNvPr>
          <p:cNvSpPr/>
          <p:nvPr/>
        </p:nvSpPr>
        <p:spPr>
          <a:xfrm>
            <a:off x="444500" y="1219200"/>
            <a:ext cx="889000" cy="38100"/>
          </a:xfrm>
          <a:prstGeom prst="rect">
            <a:avLst/>
          </a:prstGeom>
          <a:solidFill>
            <a:srgbClr val="C9A24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1D50BE-070E-46DF-A2AA-2B31A16BE73D}"/>
              </a:ext>
            </a:extLst>
          </p:cNvPr>
          <p:cNvSpPr txBox="1"/>
          <p:nvPr/>
        </p:nvSpPr>
        <p:spPr>
          <a:xfrm>
            <a:off x="419100" y="1422400"/>
            <a:ext cx="11366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i="1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This is a data-driven study. In place of a survey instrument, we reviewed the established financial-data sources our analysis rests on, and selected two trusted, free and programmatically-accessible providers.</a:t>
            </a:r>
            <a:endParaRPr lang="en-IN" i="1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6E4B809-D69E-41F5-8E82-7710CFD11D76}"/>
              </a:ext>
            </a:extLst>
          </p:cNvPr>
          <p:cNvSpPr/>
          <p:nvPr/>
        </p:nvSpPr>
        <p:spPr>
          <a:xfrm>
            <a:off x="419100" y="2006600"/>
            <a:ext cx="5524500" cy="3784600"/>
          </a:xfrm>
          <a:prstGeom prst="roundRect">
            <a:avLst/>
          </a:prstGeom>
          <a:solidFill>
            <a:srgbClr val="F2F6FB"/>
          </a:solidFill>
          <a:ln w="15875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63D773-984F-4AAD-855B-B6BD5AB2AD24}"/>
              </a:ext>
            </a:extLst>
          </p:cNvPr>
          <p:cNvSpPr txBox="1"/>
          <p:nvPr/>
        </p:nvSpPr>
        <p:spPr>
          <a:xfrm>
            <a:off x="1485900" y="2336800"/>
            <a:ext cx="42037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900" b="1" dirty="0">
                <a:solidFill>
                  <a:srgbClr val="1B4F9C"/>
                </a:solidFill>
                <a:latin typeface="Georgia"/>
              </a:rPr>
              <a:t>Yahoo Finance</a:t>
            </a:r>
          </a:p>
          <a:p>
            <a:pPr algn="l"/>
            <a:r>
              <a:rPr lang="en-US" sz="1300" i="1" dirty="0">
                <a:solidFill>
                  <a:srgbClr val="5A5A5A"/>
                </a:solidFill>
                <a:latin typeface="Calibri"/>
              </a:rPr>
              <a:t>accessed via the yfinance library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EFD2B-D78D-4CD4-BA95-219C605F2095}"/>
              </a:ext>
            </a:extLst>
          </p:cNvPr>
          <p:cNvSpPr txBox="1"/>
          <p:nvPr/>
        </p:nvSpPr>
        <p:spPr>
          <a:xfrm>
            <a:off x="749300" y="3098800"/>
            <a:ext cx="4864100" cy="2514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50"/>
              </a:lnSpc>
              <a:spcAft>
                <a:spcPts val="700"/>
              </a:spcAft>
              <a:buNone/>
            </a:pPr>
            <a:r>
              <a:rPr lang="en-US" sz="1400" i="1" dirty="0">
                <a:solidFill>
                  <a:srgbClr val="4A4A4A"/>
                </a:solidFill>
                <a:latin typeface="Calibri"/>
              </a:rPr>
              <a:t>A free, widely-used provider of historical and live market data — a de-facto standard for quantitative-finance research and prototyping.</a:t>
            </a:r>
          </a:p>
          <a:p>
            <a:pPr algn="l">
              <a:lnSpc>
                <a:spcPts val="155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4F9C"/>
                </a:solidFill>
                <a:latin typeface="Calibri"/>
              </a:rPr>
              <a:t>Provides — </a:t>
            </a:r>
            <a:r>
              <a:rPr lang="en-US" sz="1400" dirty="0">
                <a:solidFill>
                  <a:srgbClr val="33373D"/>
                </a:solidFill>
                <a:latin typeface="Calibri"/>
              </a:rPr>
              <a:t>daily price history (2015–2025) for any equity, index, FX pair, future or crypto, plus the market-wide indicators our macro model needs.</a:t>
            </a:r>
          </a:p>
          <a:p>
            <a:pPr algn="l">
              <a:lnSpc>
                <a:spcPts val="155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4F9C"/>
                </a:solidFill>
                <a:latin typeface="Calibri"/>
              </a:rPr>
              <a:t>Why we use it — </a:t>
            </a:r>
            <a:r>
              <a:rPr lang="en-US" sz="1400" dirty="0">
                <a:solidFill>
                  <a:srgbClr val="33373D"/>
                </a:solidFill>
                <a:latin typeface="Calibri"/>
              </a:rPr>
              <a:t>free, broad coverage with programmatic access, and widely cited in academic and retail finance.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393A4BD-66EE-4849-83F4-601F65481AC4}"/>
              </a:ext>
            </a:extLst>
          </p:cNvPr>
          <p:cNvSpPr/>
          <p:nvPr/>
        </p:nvSpPr>
        <p:spPr>
          <a:xfrm>
            <a:off x="6261100" y="2006600"/>
            <a:ext cx="5524500" cy="3784600"/>
          </a:xfrm>
          <a:prstGeom prst="roundRect">
            <a:avLst/>
          </a:prstGeom>
          <a:solidFill>
            <a:srgbClr val="F2F6FB"/>
          </a:solidFill>
          <a:ln w="15875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A65548-43F4-4DF4-8E9E-34F38E17174D}"/>
              </a:ext>
            </a:extLst>
          </p:cNvPr>
          <p:cNvSpPr txBox="1"/>
          <p:nvPr/>
        </p:nvSpPr>
        <p:spPr>
          <a:xfrm>
            <a:off x="7327900" y="2336800"/>
            <a:ext cx="42037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900" b="1" dirty="0">
                <a:solidFill>
                  <a:srgbClr val="1B4F9C"/>
                </a:solidFill>
                <a:latin typeface="Georgia"/>
              </a:rPr>
              <a:t>FRED</a:t>
            </a:r>
          </a:p>
          <a:p>
            <a:pPr algn="l"/>
            <a:r>
              <a:rPr lang="en-US" sz="1300" i="1" dirty="0">
                <a:solidFill>
                  <a:srgbClr val="5A5A5A"/>
                </a:solidFill>
                <a:latin typeface="Calibri"/>
              </a:rPr>
              <a:t>Federal Reserve Economic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BD41CA-0EB5-4227-86FC-A81311969898}"/>
              </a:ext>
            </a:extLst>
          </p:cNvPr>
          <p:cNvSpPr txBox="1"/>
          <p:nvPr/>
        </p:nvSpPr>
        <p:spPr>
          <a:xfrm>
            <a:off x="6591300" y="3098800"/>
            <a:ext cx="4864100" cy="2514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50"/>
              </a:lnSpc>
              <a:spcAft>
                <a:spcPts val="700"/>
              </a:spcAft>
              <a:buNone/>
            </a:pPr>
            <a:r>
              <a:rPr lang="en-US" sz="1400" i="1" dirty="0">
                <a:solidFill>
                  <a:srgbClr val="4A4A4A"/>
                </a:solidFill>
                <a:latin typeface="Calibri"/>
              </a:rPr>
              <a:t>The St. Louis Federal Reserve's authoritative public database of U.S. macroeconomic time series.</a:t>
            </a:r>
          </a:p>
          <a:p>
            <a:pPr algn="l">
              <a:lnSpc>
                <a:spcPts val="155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4F9C"/>
                </a:solidFill>
                <a:latin typeface="Calibri"/>
              </a:rPr>
              <a:t>Provides — </a:t>
            </a:r>
            <a:r>
              <a:rPr lang="en-US" sz="1400" dirty="0">
                <a:solidFill>
                  <a:srgbClr val="33373D"/>
                </a:solidFill>
                <a:latin typeface="Calibri"/>
              </a:rPr>
              <a:t>official macro factors: consumer-price inflation, the policy interest rate, unemployment and thousands of other government series.</a:t>
            </a:r>
          </a:p>
          <a:p>
            <a:pPr algn="l">
              <a:lnSpc>
                <a:spcPts val="155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4F9C"/>
                </a:solidFill>
                <a:latin typeface="Calibri"/>
              </a:rPr>
              <a:t>Why we use it — </a:t>
            </a:r>
            <a:r>
              <a:rPr lang="en-US" sz="1400" dirty="0">
                <a:solidFill>
                  <a:srgbClr val="33373D"/>
                </a:solidFill>
                <a:latin typeface="Calibri"/>
              </a:rPr>
              <a:t>authoritative source with long histories, ideal for macro-factor regression; DBnomics mirrors it as a built-in backup.</a:t>
            </a:r>
          </a:p>
        </p:txBody>
      </p:sp>
      <p:pic>
        <p:nvPicPr>
          <p:cNvPr id="98" name="Graphic 98" descr="Market data chart icon for Yahoo Fin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300" y="2311400"/>
            <a:ext cx="584200" cy="584200"/>
          </a:xfrm>
          <a:prstGeom prst="rect">
            <a:avLst/>
          </a:prstGeom>
        </p:spPr>
      </p:pic>
      <p:pic>
        <p:nvPicPr>
          <p:cNvPr id="99" name="Graphic 99" descr="Bank building icon for FRED Federal Reserv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1300" y="2311400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7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B4F9C"/>
                </a:solidFill>
                <a:latin typeface="Georgia"/>
                <a:ea typeface="Times New Roman"/>
                <a:cs typeface="Times New Roman"/>
                <a:sym typeface="Times New Roman"/>
              </a:rPr>
              <a:t>Methodology — Four Statistical Pillars</a:t>
            </a:r>
            <a:endParaRPr sz="2800">
              <a:solidFill>
                <a:srgbClr val="1B4F9C"/>
              </a:solidFill>
              <a:latin typeface="Georgia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F865C6-A53A-461F-ABF0-9BB3C996CB8A}"/>
              </a:ext>
            </a:extLst>
          </p:cNvPr>
          <p:cNvSpPr/>
          <p:nvPr/>
        </p:nvSpPr>
        <p:spPr>
          <a:xfrm>
            <a:off x="444500" y="1219200"/>
            <a:ext cx="889000" cy="38100"/>
          </a:xfrm>
          <a:prstGeom prst="rect">
            <a:avLst/>
          </a:prstGeom>
          <a:solidFill>
            <a:srgbClr val="C9A24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69D8D7-4EB6-448B-9800-7D04A748D0FC}"/>
              </a:ext>
            </a:extLst>
          </p:cNvPr>
          <p:cNvSpPr txBox="1"/>
          <p:nvPr/>
        </p:nvSpPr>
        <p:spPr>
          <a:xfrm>
            <a:off x="419100" y="1422400"/>
            <a:ext cx="11366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Four pillars are estimated independently, each with its own diagnostic tests, then fused into a single verdict.</a:t>
            </a:r>
            <a:endParaRPr lang="en-IN" i="1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FDBC67-BFAB-402E-A8A8-3BE466AE9D29}"/>
              </a:ext>
            </a:extLst>
          </p:cNvPr>
          <p:cNvSpPr/>
          <p:nvPr/>
        </p:nvSpPr>
        <p:spPr>
          <a:xfrm>
            <a:off x="419100" y="1930400"/>
            <a:ext cx="2540000" cy="1854200"/>
          </a:xfrm>
          <a:prstGeom prst="roundRect">
            <a:avLst/>
          </a:prstGeom>
          <a:solidFill>
            <a:srgbClr val="F2F6FB"/>
          </a:solidFill>
          <a:ln w="12700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E5D3F5-0AC5-4E27-BEF8-20497601E0D7}"/>
              </a:ext>
            </a:extLst>
          </p:cNvPr>
          <p:cNvSpPr/>
          <p:nvPr/>
        </p:nvSpPr>
        <p:spPr>
          <a:xfrm>
            <a:off x="1447800" y="2133600"/>
            <a:ext cx="482600" cy="4826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A487D2-5D2B-4EDD-ADB1-144950CE5C3A}"/>
              </a:ext>
            </a:extLst>
          </p:cNvPr>
          <p:cNvSpPr txBox="1"/>
          <p:nvPr/>
        </p:nvSpPr>
        <p:spPr>
          <a:xfrm>
            <a:off x="520700" y="2717800"/>
            <a:ext cx="2336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45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Macro Regression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E0E9AD-D873-48D6-9B08-FFB0B21463F0}"/>
              </a:ext>
            </a:extLst>
          </p:cNvPr>
          <p:cNvSpPr txBox="1"/>
          <p:nvPr/>
        </p:nvSpPr>
        <p:spPr>
          <a:xfrm>
            <a:off x="571500" y="3175000"/>
            <a:ext cx="2235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250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Lagged OLS + Granger causality</a:t>
            </a:r>
            <a:endParaRPr lang="en-IN" sz="1250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132D034-C1C0-4F77-9466-0BF890D6B877}"/>
              </a:ext>
            </a:extLst>
          </p:cNvPr>
          <p:cNvSpPr/>
          <p:nvPr/>
        </p:nvSpPr>
        <p:spPr>
          <a:xfrm>
            <a:off x="3352800" y="1930400"/>
            <a:ext cx="2540000" cy="1854200"/>
          </a:xfrm>
          <a:prstGeom prst="roundRect">
            <a:avLst/>
          </a:prstGeom>
          <a:solidFill>
            <a:srgbClr val="F2F6FB"/>
          </a:solidFill>
          <a:ln w="12700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21059F-DE46-4805-BA1A-969E151F3826}"/>
              </a:ext>
            </a:extLst>
          </p:cNvPr>
          <p:cNvSpPr/>
          <p:nvPr/>
        </p:nvSpPr>
        <p:spPr>
          <a:xfrm>
            <a:off x="4381500" y="2133600"/>
            <a:ext cx="482600" cy="4826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4ED041-AFD7-434A-8AEF-59FED950BEED}"/>
              </a:ext>
            </a:extLst>
          </p:cNvPr>
          <p:cNvSpPr txBox="1"/>
          <p:nvPr/>
        </p:nvSpPr>
        <p:spPr>
          <a:xfrm>
            <a:off x="3454400" y="2717800"/>
            <a:ext cx="2336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45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Volatility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DC6066-5E3D-4C50-828D-B7132B4846B0}"/>
              </a:ext>
            </a:extLst>
          </p:cNvPr>
          <p:cNvSpPr txBox="1"/>
          <p:nvPr/>
        </p:nvSpPr>
        <p:spPr>
          <a:xfrm>
            <a:off x="3505200" y="3175000"/>
            <a:ext cx="2235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250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GARCH, clustering &amp; fat-tail tests</a:t>
            </a:r>
            <a:endParaRPr lang="en-IN" sz="1250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19A1A4-1FBD-4DAC-A791-9E454EC80FBA}"/>
              </a:ext>
            </a:extLst>
          </p:cNvPr>
          <p:cNvSpPr/>
          <p:nvPr/>
        </p:nvSpPr>
        <p:spPr>
          <a:xfrm>
            <a:off x="6286500" y="1930400"/>
            <a:ext cx="2540000" cy="1854200"/>
          </a:xfrm>
          <a:prstGeom prst="roundRect">
            <a:avLst/>
          </a:prstGeom>
          <a:solidFill>
            <a:srgbClr val="F2F6FB"/>
          </a:solidFill>
          <a:ln w="12700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A1410CE-84AF-4940-B467-D58F0B47D7E3}"/>
              </a:ext>
            </a:extLst>
          </p:cNvPr>
          <p:cNvSpPr/>
          <p:nvPr/>
        </p:nvSpPr>
        <p:spPr>
          <a:xfrm>
            <a:off x="7315200" y="2133600"/>
            <a:ext cx="482600" cy="4826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CD86DD-6807-45D4-9A5E-6CFD237D3CA2}"/>
              </a:ext>
            </a:extLst>
          </p:cNvPr>
          <p:cNvSpPr txBox="1"/>
          <p:nvPr/>
        </p:nvSpPr>
        <p:spPr>
          <a:xfrm>
            <a:off x="6388100" y="2717800"/>
            <a:ext cx="2336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45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Cointegration &amp; Pairs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B239C3-E6C0-413E-9709-F5762AFEB3B5}"/>
              </a:ext>
            </a:extLst>
          </p:cNvPr>
          <p:cNvSpPr txBox="1"/>
          <p:nvPr/>
        </p:nvSpPr>
        <p:spPr>
          <a:xfrm>
            <a:off x="6438900" y="3175000"/>
            <a:ext cx="2235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250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Log-price spread, z-score, half-life</a:t>
            </a:r>
            <a:endParaRPr lang="en-IN" sz="1250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74C57D5-EED2-4407-90CF-AC5A0B725F1C}"/>
              </a:ext>
            </a:extLst>
          </p:cNvPr>
          <p:cNvSpPr/>
          <p:nvPr/>
        </p:nvSpPr>
        <p:spPr>
          <a:xfrm>
            <a:off x="9220200" y="1930400"/>
            <a:ext cx="2540000" cy="1854200"/>
          </a:xfrm>
          <a:prstGeom prst="roundRect">
            <a:avLst/>
          </a:prstGeom>
          <a:solidFill>
            <a:srgbClr val="F2F6FB"/>
          </a:solidFill>
          <a:ln w="12700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C64A35A-CC70-441A-A3FC-CFFE457B4AC3}"/>
              </a:ext>
            </a:extLst>
          </p:cNvPr>
          <p:cNvSpPr/>
          <p:nvPr/>
        </p:nvSpPr>
        <p:spPr>
          <a:xfrm>
            <a:off x="10248900" y="2133600"/>
            <a:ext cx="482600" cy="4826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F3E620-3951-44A7-B5C4-42478A9B2E5C}"/>
              </a:ext>
            </a:extLst>
          </p:cNvPr>
          <p:cNvSpPr txBox="1"/>
          <p:nvPr/>
        </p:nvSpPr>
        <p:spPr>
          <a:xfrm>
            <a:off x="9321800" y="2717800"/>
            <a:ext cx="2336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45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Option Valuation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829992-7080-40CA-A75C-3D47109E6FA6}"/>
              </a:ext>
            </a:extLst>
          </p:cNvPr>
          <p:cNvSpPr txBox="1"/>
          <p:nvPr/>
        </p:nvSpPr>
        <p:spPr>
          <a:xfrm>
            <a:off x="9372600" y="3175000"/>
            <a:ext cx="2235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250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Implied vs modelled volatility</a:t>
            </a:r>
            <a:endParaRPr lang="en-IN" sz="1250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24D623D-EC28-4C27-B382-95B3E0FB84C0}"/>
              </a:ext>
            </a:extLst>
          </p:cNvPr>
          <p:cNvSpPr/>
          <p:nvPr/>
        </p:nvSpPr>
        <p:spPr>
          <a:xfrm>
            <a:off x="419100" y="3987800"/>
            <a:ext cx="11366500" cy="1066800"/>
          </a:xfrm>
          <a:prstGeom prst="roundRect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C0AE17-0EB5-4895-A44D-9EBA572E3317}"/>
              </a:ext>
            </a:extLst>
          </p:cNvPr>
          <p:cNvSpPr txBox="1"/>
          <p:nvPr/>
        </p:nvSpPr>
        <p:spPr>
          <a:xfrm>
            <a:off x="698500" y="4140200"/>
            <a:ext cx="1079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C9A24B"/>
                </a:solidFill>
                <a:latin typeface="Calibri"/>
                <a:ea typeface="Calibri"/>
                <a:cs typeface="Calibri"/>
              </a:rPr>
              <a:t>Fusion Layer — statistics detect, the AI explains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939A32-3163-4CA1-A411-8A4B31D6125D}"/>
              </a:ext>
            </a:extLst>
          </p:cNvPr>
          <p:cNvSpPr txBox="1"/>
          <p:nvPr/>
        </p:nvSpPr>
        <p:spPr>
          <a:xfrm>
            <a:off x="698500" y="4470400"/>
            <a:ext cx="1079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Each pillar's significant findings become detectors on one shared bull/bear axis, weighted by severity × statistical reliability. Conviction falls when detectors disagree, risk is kept on its own axis, and dissenting signals are shown rather than averaged away.</a:t>
            </a:r>
            <a:endParaRPr lang="en-IN" sz="135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CB7F36-039B-4E14-BC4C-2C3549DE70CD}"/>
              </a:ext>
            </a:extLst>
          </p:cNvPr>
          <p:cNvSpPr txBox="1"/>
          <p:nvPr/>
        </p:nvSpPr>
        <p:spPr>
          <a:xfrm>
            <a:off x="419100" y="5257800"/>
            <a:ext cx="113665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5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Every model is re-estimated per asset on request — no pre-baked results · the AI layer never computes a number, it only explains the ones it is given.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rgbClr val="1B4F9C"/>
                </a:solidFill>
                <a:latin typeface="Georgia"/>
                <a:ea typeface="Times New Roman"/>
                <a:cs typeface="Times New Roman"/>
                <a:sym typeface="Times New Roman"/>
              </a:rPr>
              <a:t>Analysis Plan</a:t>
            </a:r>
            <a:endParaRPr sz="2800">
              <a:solidFill>
                <a:srgbClr val="1B4F9C"/>
              </a:solidFill>
              <a:latin typeface="Georgia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C4B7EA-66D6-411A-85E7-C913A42CAACD}"/>
              </a:ext>
            </a:extLst>
          </p:cNvPr>
          <p:cNvSpPr/>
          <p:nvPr/>
        </p:nvSpPr>
        <p:spPr>
          <a:xfrm>
            <a:off x="444500" y="1219200"/>
            <a:ext cx="889000" cy="38100"/>
          </a:xfrm>
          <a:prstGeom prst="rect">
            <a:avLst/>
          </a:prstGeom>
          <a:solidFill>
            <a:srgbClr val="C9A24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C8E77B-1CA9-4514-B0BA-2A8BC8E189F7}"/>
              </a:ext>
            </a:extLst>
          </p:cNvPr>
          <p:cNvSpPr/>
          <p:nvPr/>
        </p:nvSpPr>
        <p:spPr>
          <a:xfrm>
            <a:off x="609600" y="1473200"/>
            <a:ext cx="457200" cy="4572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E5743-3139-40CD-BF96-33F9E0194CBD}"/>
              </a:ext>
            </a:extLst>
          </p:cNvPr>
          <p:cNvSpPr txBox="1"/>
          <p:nvPr/>
        </p:nvSpPr>
        <p:spPr>
          <a:xfrm>
            <a:off x="1270000" y="1437625"/>
            <a:ext cx="10477500" cy="5283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B4F9C"/>
                </a:solidFill>
                <a:latin typeface="Calibri"/>
              </a:rPr>
              <a:t>Collect &amp; validate</a:t>
            </a:r>
            <a:r>
              <a:rPr lang="en-US" sz="1600" dirty="0">
                <a:solidFill>
                  <a:srgbClr val="3A3A3A"/>
                </a:solidFill>
                <a:latin typeface="Calibri"/>
              </a:rPr>
              <a:t> — price history and official macro series are pulled on a rolling window, range-checked and cached before any model sees them.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243028A-043F-4819-A4CC-DB63FC7EA7F2}"/>
              </a:ext>
            </a:extLst>
          </p:cNvPr>
          <p:cNvSpPr/>
          <p:nvPr/>
        </p:nvSpPr>
        <p:spPr>
          <a:xfrm>
            <a:off x="609600" y="2387600"/>
            <a:ext cx="457200" cy="4572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B9F3B6-662F-483F-92CA-DDBCA2CA7609}"/>
              </a:ext>
            </a:extLst>
          </p:cNvPr>
          <p:cNvSpPr txBox="1"/>
          <p:nvPr/>
        </p:nvSpPr>
        <p:spPr>
          <a:xfrm>
            <a:off x="1270000" y="2350008"/>
            <a:ext cx="10477500" cy="53035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B4F9C"/>
                </a:solidFill>
                <a:latin typeface="Calibri"/>
              </a:rPr>
              <a:t>Model each pillar separately</a:t>
            </a:r>
            <a:r>
              <a:rPr lang="en-US" sz="1600" dirty="0">
                <a:solidFill>
                  <a:srgbClr val="3A3A3A"/>
                </a:solidFill>
                <a:latin typeface="Calibri"/>
              </a:rPr>
              <a:t> — lagged regression, volatility modelling, cointegration testing and option valuation, each with its own diagnostic checks.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A64B5A-12CD-48B0-9C55-08C426D8B196}"/>
              </a:ext>
            </a:extLst>
          </p:cNvPr>
          <p:cNvSpPr/>
          <p:nvPr/>
        </p:nvSpPr>
        <p:spPr>
          <a:xfrm>
            <a:off x="609600" y="3302000"/>
            <a:ext cx="457200" cy="4572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98295-6413-47A7-A297-47A568C8DD0B}"/>
              </a:ext>
            </a:extLst>
          </p:cNvPr>
          <p:cNvSpPr txBox="1"/>
          <p:nvPr/>
        </p:nvSpPr>
        <p:spPr>
          <a:xfrm>
            <a:off x="1270000" y="3266425"/>
            <a:ext cx="10477500" cy="5283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B4F9C"/>
                </a:solidFill>
                <a:latin typeface="Calibri"/>
              </a:rPr>
              <a:t>Convert findings into detectors</a:t>
            </a:r>
            <a:r>
              <a:rPr lang="en-US" sz="1600" dirty="0">
                <a:solidFill>
                  <a:srgbClr val="3A3A3A"/>
                </a:solidFill>
                <a:latin typeface="Calibri"/>
              </a:rPr>
              <a:t> — every statistically significant result becomes a signal carrying a direction, a severity and a reliability score.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6A02EF-2D18-4A88-9C78-B9690D8A1B23}"/>
              </a:ext>
            </a:extLst>
          </p:cNvPr>
          <p:cNvSpPr/>
          <p:nvPr/>
        </p:nvSpPr>
        <p:spPr>
          <a:xfrm>
            <a:off x="609600" y="4216400"/>
            <a:ext cx="457200" cy="4572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4E915C-647C-4346-8745-99BE2D954342}"/>
              </a:ext>
            </a:extLst>
          </p:cNvPr>
          <p:cNvSpPr txBox="1"/>
          <p:nvPr/>
        </p:nvSpPr>
        <p:spPr>
          <a:xfrm>
            <a:off x="1270000" y="4180825"/>
            <a:ext cx="10477500" cy="5283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B4F9C"/>
                </a:solidFill>
                <a:latin typeface="Calibri"/>
              </a:rPr>
              <a:t>Fuse into one verdict</a:t>
            </a:r>
            <a:r>
              <a:rPr lang="en-US" sz="1600" dirty="0">
                <a:solidFill>
                  <a:srgbClr val="3A3A3A"/>
                </a:solidFill>
                <a:latin typeface="Calibri"/>
              </a:rPr>
              <a:t> — signals are weighted by severity × reliability; conviction falls when they disagree, and dissent is displayed rather than averaged away.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B451D8F-04C4-4138-A2E1-F651F3F307D6}"/>
              </a:ext>
            </a:extLst>
          </p:cNvPr>
          <p:cNvSpPr/>
          <p:nvPr/>
        </p:nvSpPr>
        <p:spPr>
          <a:xfrm>
            <a:off x="609600" y="5130800"/>
            <a:ext cx="457200" cy="4572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D9490D-8A39-4DC5-9A4B-018FA2312252}"/>
              </a:ext>
            </a:extLst>
          </p:cNvPr>
          <p:cNvSpPr txBox="1"/>
          <p:nvPr/>
        </p:nvSpPr>
        <p:spPr>
          <a:xfrm>
            <a:off x="1270000" y="5095225"/>
            <a:ext cx="10477500" cy="5283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B4F9C"/>
                </a:solidFill>
                <a:latin typeface="Calibri"/>
              </a:rPr>
              <a:t>Explain, then stress-test</a:t>
            </a:r>
            <a:r>
              <a:rPr lang="en-US" sz="1600" dirty="0">
                <a:solidFill>
                  <a:srgbClr val="3A3A3A"/>
                </a:solidFill>
                <a:latin typeface="Calibri"/>
              </a:rPr>
              <a:t> — a local AI writes the plain-English note; next comes multiple-testing correction, robust standard errors and out-of-sample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B4F9C"/>
                </a:solidFill>
                <a:latin typeface="Georgia"/>
                <a:ea typeface="Times New Roman"/>
                <a:cs typeface="Times New Roman"/>
                <a:sym typeface="Times New Roman"/>
              </a:rPr>
              <a:t>Pilot Study Conducted to Date</a:t>
            </a:r>
            <a:endParaRPr sz="2800">
              <a:solidFill>
                <a:srgbClr val="1B4F9C"/>
              </a:solidFill>
              <a:latin typeface="Georgia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F865C6-A53A-461F-ABF0-9BB3C996CB8A}"/>
              </a:ext>
            </a:extLst>
          </p:cNvPr>
          <p:cNvSpPr/>
          <p:nvPr/>
        </p:nvSpPr>
        <p:spPr>
          <a:xfrm>
            <a:off x="444500" y="1219200"/>
            <a:ext cx="889000" cy="38100"/>
          </a:xfrm>
          <a:prstGeom prst="rect">
            <a:avLst/>
          </a:prstGeom>
          <a:solidFill>
            <a:srgbClr val="C9A24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69D8D7-4EB6-448B-9800-7D04A748D0FC}"/>
              </a:ext>
            </a:extLst>
          </p:cNvPr>
          <p:cNvSpPr txBox="1"/>
          <p:nvPr/>
        </p:nvSpPr>
        <p:spPr>
          <a:xfrm>
            <a:off x="419100" y="1422400"/>
            <a:ext cx="11366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A working end-to-end prototype, validated on live markets. The guiding principle: statistics detect, the AI explains.</a:t>
            </a:r>
            <a:endParaRPr lang="en-IN" i="1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FDBC67-BFAB-402E-A8A8-3BE466AE9D29}"/>
              </a:ext>
            </a:extLst>
          </p:cNvPr>
          <p:cNvSpPr/>
          <p:nvPr/>
        </p:nvSpPr>
        <p:spPr>
          <a:xfrm>
            <a:off x="419100" y="1930400"/>
            <a:ext cx="2540000" cy="1854200"/>
          </a:xfrm>
          <a:prstGeom prst="roundRect">
            <a:avLst/>
          </a:prstGeom>
          <a:solidFill>
            <a:srgbClr val="F2F6FB"/>
          </a:solidFill>
          <a:ln w="12700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E5D3F5-0AC5-4E27-BEF8-20497601E0D7}"/>
              </a:ext>
            </a:extLst>
          </p:cNvPr>
          <p:cNvSpPr/>
          <p:nvPr/>
        </p:nvSpPr>
        <p:spPr>
          <a:xfrm>
            <a:off x="1447800" y="2133600"/>
            <a:ext cx="482600" cy="4826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A487D2-5D2B-4EDD-ADB1-144950CE5C3A}"/>
              </a:ext>
            </a:extLst>
          </p:cNvPr>
          <p:cNvSpPr txBox="1"/>
          <p:nvPr/>
        </p:nvSpPr>
        <p:spPr>
          <a:xfrm>
            <a:off x="520700" y="2717800"/>
            <a:ext cx="2336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45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Validated Data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E0E9AD-D873-48D6-9B08-FFB0B21463F0}"/>
              </a:ext>
            </a:extLst>
          </p:cNvPr>
          <p:cNvSpPr txBox="1"/>
          <p:nvPr/>
        </p:nvSpPr>
        <p:spPr>
          <a:xfrm>
            <a:off x="571500" y="3175000"/>
            <a:ext cx="2235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250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Clean, range-checked market &amp; macro series</a:t>
            </a:r>
            <a:endParaRPr lang="en-IN" sz="1250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0979A7E-B891-45D2-B2AA-077E2C99D0A2}"/>
              </a:ext>
            </a:extLst>
          </p:cNvPr>
          <p:cNvSpPr/>
          <p:nvPr/>
        </p:nvSpPr>
        <p:spPr>
          <a:xfrm>
            <a:off x="2984500" y="2692400"/>
            <a:ext cx="342900" cy="330200"/>
          </a:xfrm>
          <a:prstGeom prst="rightArrow">
            <a:avLst/>
          </a:prstGeom>
          <a:solidFill>
            <a:srgbClr val="C9A24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132D034-C1C0-4F77-9466-0BF890D6B877}"/>
              </a:ext>
            </a:extLst>
          </p:cNvPr>
          <p:cNvSpPr/>
          <p:nvPr/>
        </p:nvSpPr>
        <p:spPr>
          <a:xfrm>
            <a:off x="3352800" y="1930400"/>
            <a:ext cx="2540000" cy="1854200"/>
          </a:xfrm>
          <a:prstGeom prst="roundRect">
            <a:avLst/>
          </a:prstGeom>
          <a:solidFill>
            <a:srgbClr val="F2F6FB"/>
          </a:solidFill>
          <a:ln w="12700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21059F-DE46-4805-BA1A-969E151F3826}"/>
              </a:ext>
            </a:extLst>
          </p:cNvPr>
          <p:cNvSpPr/>
          <p:nvPr/>
        </p:nvSpPr>
        <p:spPr>
          <a:xfrm>
            <a:off x="4381500" y="2133600"/>
            <a:ext cx="482600" cy="4826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4ED041-AFD7-434A-8AEF-59FED950BEED}"/>
              </a:ext>
            </a:extLst>
          </p:cNvPr>
          <p:cNvSpPr txBox="1"/>
          <p:nvPr/>
        </p:nvSpPr>
        <p:spPr>
          <a:xfrm>
            <a:off x="3454400" y="2717800"/>
            <a:ext cx="2336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45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Four Statistical Pillars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DC6066-5E3D-4C50-828D-B7132B4846B0}"/>
              </a:ext>
            </a:extLst>
          </p:cNvPr>
          <p:cNvSpPr txBox="1"/>
          <p:nvPr/>
        </p:nvSpPr>
        <p:spPr>
          <a:xfrm>
            <a:off x="3505200" y="3175000"/>
            <a:ext cx="2235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250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Macro · volatility · pairs · valuation</a:t>
            </a:r>
            <a:endParaRPr lang="en-IN" sz="1250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2A2CA7F-D119-4DC7-B855-36088F785A9D}"/>
              </a:ext>
            </a:extLst>
          </p:cNvPr>
          <p:cNvSpPr/>
          <p:nvPr/>
        </p:nvSpPr>
        <p:spPr>
          <a:xfrm>
            <a:off x="5918200" y="2692400"/>
            <a:ext cx="342900" cy="330200"/>
          </a:xfrm>
          <a:prstGeom prst="rightArrow">
            <a:avLst/>
          </a:prstGeom>
          <a:solidFill>
            <a:srgbClr val="C9A24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19A1A4-1FBD-4DAC-A791-9E454EC80FBA}"/>
              </a:ext>
            </a:extLst>
          </p:cNvPr>
          <p:cNvSpPr/>
          <p:nvPr/>
        </p:nvSpPr>
        <p:spPr>
          <a:xfrm>
            <a:off x="6286500" y="1930400"/>
            <a:ext cx="2540000" cy="1854200"/>
          </a:xfrm>
          <a:prstGeom prst="roundRect">
            <a:avLst/>
          </a:prstGeom>
          <a:solidFill>
            <a:srgbClr val="F2F6FB"/>
          </a:solidFill>
          <a:ln w="12700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A1410CE-84AF-4940-B467-D58F0B47D7E3}"/>
              </a:ext>
            </a:extLst>
          </p:cNvPr>
          <p:cNvSpPr/>
          <p:nvPr/>
        </p:nvSpPr>
        <p:spPr>
          <a:xfrm>
            <a:off x="7315200" y="2133600"/>
            <a:ext cx="482600" cy="4826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CD86DD-6807-45D4-9A5E-6CFD237D3CA2}"/>
              </a:ext>
            </a:extLst>
          </p:cNvPr>
          <p:cNvSpPr txBox="1"/>
          <p:nvPr/>
        </p:nvSpPr>
        <p:spPr>
          <a:xfrm>
            <a:off x="6388100" y="2717800"/>
            <a:ext cx="2336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45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Fusion / Decision Engine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B239C3-E6C0-413E-9709-F5762AFEB3B5}"/>
              </a:ext>
            </a:extLst>
          </p:cNvPr>
          <p:cNvSpPr txBox="1"/>
          <p:nvPr/>
        </p:nvSpPr>
        <p:spPr>
          <a:xfrm>
            <a:off x="6438900" y="3175000"/>
            <a:ext cx="2235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250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One verdict from eight detectors, in milliseconds</a:t>
            </a:r>
            <a:endParaRPr lang="en-IN" sz="1250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22CD13D-DA81-460D-9DF0-6EBF3C40A584}"/>
              </a:ext>
            </a:extLst>
          </p:cNvPr>
          <p:cNvSpPr/>
          <p:nvPr/>
        </p:nvSpPr>
        <p:spPr>
          <a:xfrm>
            <a:off x="8851900" y="2692400"/>
            <a:ext cx="342900" cy="330200"/>
          </a:xfrm>
          <a:prstGeom prst="rightArrow">
            <a:avLst/>
          </a:prstGeom>
          <a:solidFill>
            <a:srgbClr val="C9A24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74C57D5-EED2-4407-90CF-AC5A0B725F1C}"/>
              </a:ext>
            </a:extLst>
          </p:cNvPr>
          <p:cNvSpPr/>
          <p:nvPr/>
        </p:nvSpPr>
        <p:spPr>
          <a:xfrm>
            <a:off x="9220200" y="1930400"/>
            <a:ext cx="2540000" cy="1854200"/>
          </a:xfrm>
          <a:prstGeom prst="roundRect">
            <a:avLst/>
          </a:prstGeom>
          <a:solidFill>
            <a:srgbClr val="F2F6FB"/>
          </a:solidFill>
          <a:ln w="12700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C64A35A-CC70-441A-A3FC-CFFE457B4AC3}"/>
              </a:ext>
            </a:extLst>
          </p:cNvPr>
          <p:cNvSpPr/>
          <p:nvPr/>
        </p:nvSpPr>
        <p:spPr>
          <a:xfrm>
            <a:off x="10248900" y="2133600"/>
            <a:ext cx="482600" cy="482600"/>
          </a:xfrm>
          <a:prstGeom prst="ellipse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F3E620-3951-44A7-B5C4-42478A9B2E5C}"/>
              </a:ext>
            </a:extLst>
          </p:cNvPr>
          <p:cNvSpPr txBox="1"/>
          <p:nvPr/>
        </p:nvSpPr>
        <p:spPr>
          <a:xfrm>
            <a:off x="9321800" y="2717800"/>
            <a:ext cx="2336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45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Local AI Explains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829992-7080-40CA-A75C-3D47109E6FA6}"/>
              </a:ext>
            </a:extLst>
          </p:cNvPr>
          <p:cNvSpPr txBox="1"/>
          <p:nvPr/>
        </p:nvSpPr>
        <p:spPr>
          <a:xfrm>
            <a:off x="9372600" y="3175000"/>
            <a:ext cx="2235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250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Plain-English note — checked numbers only</a:t>
            </a:r>
            <a:endParaRPr lang="en-IN" sz="1250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24D623D-EC28-4C27-B382-95B3E0FB84C0}"/>
              </a:ext>
            </a:extLst>
          </p:cNvPr>
          <p:cNvSpPr/>
          <p:nvPr/>
        </p:nvSpPr>
        <p:spPr>
          <a:xfrm>
            <a:off x="419100" y="3987800"/>
            <a:ext cx="11366500" cy="1066800"/>
          </a:xfrm>
          <a:prstGeom prst="roundRect">
            <a:avLst/>
          </a:prstGeom>
          <a:solidFill>
            <a:srgbClr val="1B4F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C0AE17-0EB5-4895-A44D-9EBA572E3317}"/>
              </a:ext>
            </a:extLst>
          </p:cNvPr>
          <p:cNvSpPr txBox="1"/>
          <p:nvPr/>
        </p:nvSpPr>
        <p:spPr>
          <a:xfrm>
            <a:off x="698500" y="4140200"/>
            <a:ext cx="1079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C9A24B"/>
                </a:solidFill>
                <a:latin typeface="Calibri"/>
                <a:ea typeface="Calibri"/>
                <a:cs typeface="Calibri"/>
              </a:rPr>
              <a:t>Interactive Dashboard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939A32-3163-4CA1-A411-8A4B31D6125D}"/>
              </a:ext>
            </a:extLst>
          </p:cNvPr>
          <p:cNvSpPr txBox="1"/>
          <p:nvPr/>
        </p:nvSpPr>
        <p:spPr>
          <a:xfrm>
            <a:off x="698500" y="4470400"/>
            <a:ext cx="1079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Six tab panels — Overview · Opportunities · Macro · Volatility · Pair Trading · Options.  Search any ticker, pick forex pairs, switch time ranges, light or dark theme.</a:t>
            </a:r>
            <a:endParaRPr lang="en-IN" sz="135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CB7F36-039B-4E14-BC4C-2C3549DE70CD}"/>
              </a:ext>
            </a:extLst>
          </p:cNvPr>
          <p:cNvSpPr txBox="1"/>
          <p:nvPr/>
        </p:nvSpPr>
        <p:spPr>
          <a:xfrm>
            <a:off x="419100" y="5257800"/>
            <a:ext cx="113665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5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Built so far:  data pipeline · macro regression · volatility model · pair trading · option valuation · fusion engine · local AI layer  +  analysis API and React dashboard</a:t>
            </a:r>
          </a:p>
        </p:txBody>
      </p:sp>
    </p:spTree>
    <p:extLst>
      <p:ext uri="{BB962C8B-B14F-4D97-AF65-F5344CB8AC3E}">
        <p14:creationId xmlns:p14="http://schemas.microsoft.com/office/powerpoint/2010/main" val="838809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B4F9C"/>
                </a:solidFill>
                <a:latin typeface="Georgia"/>
                <a:ea typeface="Times New Roman"/>
                <a:cs typeface="Times New Roman"/>
                <a:sym typeface="Times New Roman"/>
              </a:rPr>
              <a:t>Future Plans</a:t>
            </a:r>
            <a:endParaRPr sz="2800">
              <a:solidFill>
                <a:srgbClr val="1B4F9C"/>
              </a:solidFill>
              <a:latin typeface="Georgia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F865C6-A53A-461F-ABF0-9BB3C996CB8A}"/>
              </a:ext>
            </a:extLst>
          </p:cNvPr>
          <p:cNvSpPr/>
          <p:nvPr/>
        </p:nvSpPr>
        <p:spPr>
          <a:xfrm>
            <a:off x="444500" y="1219200"/>
            <a:ext cx="889000" cy="38100"/>
          </a:xfrm>
          <a:prstGeom prst="rect">
            <a:avLst/>
          </a:prstGeom>
          <a:solidFill>
            <a:srgbClr val="C9A24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7AECA4-B8B2-41D8-A272-F054AEE08F8E}"/>
              </a:ext>
            </a:extLst>
          </p:cNvPr>
          <p:cNvSpPr/>
          <p:nvPr/>
        </p:nvSpPr>
        <p:spPr>
          <a:xfrm>
            <a:off x="419100" y="1473200"/>
            <a:ext cx="5499100" cy="2057400"/>
          </a:xfrm>
          <a:prstGeom prst="roundRect">
            <a:avLst/>
          </a:prstGeom>
          <a:solidFill>
            <a:srgbClr val="F2F6FB"/>
          </a:solidFill>
          <a:ln w="12700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BB8E4-EF35-403C-AB04-10665CDD0337}"/>
              </a:ext>
            </a:extLst>
          </p:cNvPr>
          <p:cNvSpPr txBox="1"/>
          <p:nvPr/>
        </p:nvSpPr>
        <p:spPr>
          <a:xfrm>
            <a:off x="1358900" y="1727200"/>
            <a:ext cx="43561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70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Inferential rigor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F5EB29-B91F-4830-BBA5-BF3774CE858D}"/>
              </a:ext>
            </a:extLst>
          </p:cNvPr>
          <p:cNvSpPr txBox="1"/>
          <p:nvPr/>
        </p:nvSpPr>
        <p:spPr>
          <a:xfrm>
            <a:off x="698500" y="2362200"/>
            <a:ext cx="49403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Multiple-testing correction across the large cointegration scan, and robust standard errors on the autocorrelated monthly regressions.</a:t>
            </a:r>
            <a:endParaRPr lang="en-IN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424AC5-388B-4DB5-B5FD-FD7F9E429B35}"/>
              </a:ext>
            </a:extLst>
          </p:cNvPr>
          <p:cNvSpPr/>
          <p:nvPr/>
        </p:nvSpPr>
        <p:spPr>
          <a:xfrm>
            <a:off x="6286500" y="1473200"/>
            <a:ext cx="5499100" cy="2057400"/>
          </a:xfrm>
          <a:prstGeom prst="roundRect">
            <a:avLst/>
          </a:prstGeom>
          <a:solidFill>
            <a:srgbClr val="F2F6FB"/>
          </a:solidFill>
          <a:ln w="12700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CD4D3-43D4-4AE0-94F4-05FAC9BD4910}"/>
              </a:ext>
            </a:extLst>
          </p:cNvPr>
          <p:cNvSpPr txBox="1"/>
          <p:nvPr/>
        </p:nvSpPr>
        <p:spPr>
          <a:xfrm>
            <a:off x="7226300" y="1727200"/>
            <a:ext cx="43561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70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Out-of-sample validation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FC5899-29DA-4673-B221-6B0BF2B9BE21}"/>
              </a:ext>
            </a:extLst>
          </p:cNvPr>
          <p:cNvSpPr txBox="1"/>
          <p:nvPr/>
        </p:nvSpPr>
        <p:spPr>
          <a:xfrm>
            <a:off x="6565900" y="2362200"/>
            <a:ext cx="49403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Walk-forward testing of the fused verdict on unseen periods, before any claim is made about how well the signals perform.</a:t>
            </a:r>
            <a:endParaRPr lang="en-IN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DEBBC1-54EC-40AA-8ABC-2F7B7C90ACF4}"/>
              </a:ext>
            </a:extLst>
          </p:cNvPr>
          <p:cNvSpPr/>
          <p:nvPr/>
        </p:nvSpPr>
        <p:spPr>
          <a:xfrm>
            <a:off x="419100" y="3797300"/>
            <a:ext cx="5499100" cy="2057400"/>
          </a:xfrm>
          <a:prstGeom prst="roundRect">
            <a:avLst/>
          </a:prstGeom>
          <a:solidFill>
            <a:srgbClr val="F2F6FB"/>
          </a:solidFill>
          <a:ln w="12700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A10265-82BC-4C09-87E0-0E7B96E22E4D}"/>
              </a:ext>
            </a:extLst>
          </p:cNvPr>
          <p:cNvSpPr txBox="1"/>
          <p:nvPr/>
        </p:nvSpPr>
        <p:spPr>
          <a:xfrm>
            <a:off x="1358900" y="4051300"/>
            <a:ext cx="43561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70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Options as a full pillar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DC1AE9-3A37-480E-9A25-83854A74BD18}"/>
              </a:ext>
            </a:extLst>
          </p:cNvPr>
          <p:cNvSpPr txBox="1"/>
          <p:nvPr/>
        </p:nvSpPr>
        <p:spPr>
          <a:xfrm>
            <a:off x="698500" y="4686300"/>
            <a:ext cx="49403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The Black–Scholes valuation module is built; wiring it in as a live detector of expensive or cheap volatility is the next step.</a:t>
            </a:r>
            <a:endParaRPr lang="en-IN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3DCB37B-073E-41E8-B98D-7B24A228F57F}"/>
              </a:ext>
            </a:extLst>
          </p:cNvPr>
          <p:cNvSpPr/>
          <p:nvPr/>
        </p:nvSpPr>
        <p:spPr>
          <a:xfrm>
            <a:off x="6286500" y="3797300"/>
            <a:ext cx="5499100" cy="2057400"/>
          </a:xfrm>
          <a:prstGeom prst="roundRect">
            <a:avLst/>
          </a:prstGeom>
          <a:solidFill>
            <a:srgbClr val="F2F6FB"/>
          </a:solidFill>
          <a:ln w="12700" cap="flat" cmpd="sng" algn="ctr">
            <a:solidFill>
              <a:srgbClr val="C9A24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A12586-26A2-4A05-8830-ACAB0C40113D}"/>
              </a:ext>
            </a:extLst>
          </p:cNvPr>
          <p:cNvSpPr txBox="1"/>
          <p:nvPr/>
        </p:nvSpPr>
        <p:spPr>
          <a:xfrm>
            <a:off x="7226300" y="4051300"/>
            <a:ext cx="43561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70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Depth &amp; delivery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C25B37-EB0D-48F5-A687-FFD7AE0575B7}"/>
              </a:ext>
            </a:extLst>
          </p:cNvPr>
          <p:cNvSpPr txBox="1"/>
          <p:nvPr/>
        </p:nvSpPr>
        <p:spPr>
          <a:xfrm>
            <a:off x="6565900" y="4686300"/>
            <a:ext cx="4940300" cy="101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>
                <a:solidFill>
                  <a:srgbClr val="33373D"/>
                </a:solidFill>
                <a:latin typeface="Calibri"/>
                <a:ea typeface="Calibri"/>
                <a:cs typeface="Calibri"/>
              </a:rPr>
              <a:t>Wider asset coverage, richer explanations of each verdict, and full documentation packaged alongside the dashboard.</a:t>
            </a:r>
            <a:endParaRPr lang="en-IN">
              <a:solidFill>
                <a:srgbClr val="33373D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8" name="Graphic 98" descr="tangible insigh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2300" y="1600200"/>
            <a:ext cx="508000" cy="508000"/>
          </a:xfrm>
          <a:prstGeom prst="rect">
            <a:avLst/>
          </a:prstGeom>
        </p:spPr>
      </p:pic>
      <p:pic>
        <p:nvPicPr>
          <p:cNvPr id="99" name="Graphic 99" descr="risk opportunity bal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9700" y="1600200"/>
            <a:ext cx="508000" cy="508000"/>
          </a:xfrm>
          <a:prstGeom prst="rect">
            <a:avLst/>
          </a:prstGeom>
        </p:spPr>
      </p:pic>
      <p:pic>
        <p:nvPicPr>
          <p:cNvPr id="100" name="Graphic 100" descr="statistics and 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0" y="3924300"/>
            <a:ext cx="508000" cy="508000"/>
          </a:xfrm>
          <a:prstGeom prst="rect">
            <a:avLst/>
          </a:prstGeom>
        </p:spPr>
      </p:pic>
      <p:pic>
        <p:nvPicPr>
          <p:cNvPr id="101" name="Graphic 101" descr="learning valu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9700" y="3924300"/>
            <a:ext cx="508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8EEE58-8D3F-4517-A676-09E3FA662335}"/>
              </a:ext>
            </a:extLst>
          </p:cNvPr>
          <p:cNvSpPr txBox="1"/>
          <p:nvPr/>
        </p:nvSpPr>
        <p:spPr>
          <a:xfrm>
            <a:off x="419100" y="1905000"/>
            <a:ext cx="113665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b="1">
                <a:solidFill>
                  <a:srgbClr val="C9A24B"/>
                </a:solidFill>
                <a:latin typeface="Calibri"/>
                <a:ea typeface="Calibri"/>
                <a:cs typeface="Calibri"/>
              </a:rPr>
              <a:t>QUESTIONS  &amp;  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0CA9D-CF59-4FFF-8393-5C94C11DF43B}"/>
              </a:ext>
            </a:extLst>
          </p:cNvPr>
          <p:cNvSpPr txBox="1"/>
          <p:nvPr/>
        </p:nvSpPr>
        <p:spPr>
          <a:xfrm>
            <a:off x="419100" y="2311400"/>
            <a:ext cx="113665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5400" b="1">
                <a:solidFill>
                  <a:srgbClr val="1B4F9C"/>
                </a:solidFill>
                <a:latin typeface="Georgia"/>
              </a:rPr>
              <a:t>Thank You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CC8856-8567-497D-8E56-323CB685B357}"/>
              </a:ext>
            </a:extLst>
          </p:cNvPr>
          <p:cNvSpPr/>
          <p:nvPr/>
        </p:nvSpPr>
        <p:spPr>
          <a:xfrm>
            <a:off x="469900" y="3454400"/>
            <a:ext cx="1143000" cy="38100"/>
          </a:xfrm>
          <a:prstGeom prst="rect">
            <a:avLst/>
          </a:prstGeom>
          <a:solidFill>
            <a:srgbClr val="C9A24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581F4F-6B8F-409E-8D1E-7E6C066A22C4}"/>
              </a:ext>
            </a:extLst>
          </p:cNvPr>
          <p:cNvSpPr txBox="1"/>
          <p:nvPr/>
        </p:nvSpPr>
        <p:spPr>
          <a:xfrm>
            <a:off x="419100" y="3657600"/>
            <a:ext cx="113665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800" i="1">
                <a:solidFill>
                  <a:srgbClr val="33373D"/>
                </a:solidFill>
                <a:latin typeface="Georgia"/>
              </a:rPr>
              <a:t>Quantitative Anomalies as Market Opportunities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DC9718-F751-441F-8F6C-AB0C9FD4586D}"/>
              </a:ext>
            </a:extLst>
          </p:cNvPr>
          <p:cNvSpPr txBox="1"/>
          <p:nvPr/>
        </p:nvSpPr>
        <p:spPr>
          <a:xfrm>
            <a:off x="419100" y="4140200"/>
            <a:ext cx="113665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Statistics detect the opportunity — the AI explains it.</a:t>
            </a:r>
            <a:endParaRPr lang="en-IN" sz="1500">
              <a:solidFill>
                <a:srgbClr val="1B4F9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5A5314-E591-4926-A819-D28B024EA206}"/>
              </a:ext>
            </a:extLst>
          </p:cNvPr>
          <p:cNvSpPr txBox="1"/>
          <p:nvPr/>
        </p:nvSpPr>
        <p:spPr>
          <a:xfrm>
            <a:off x="419100" y="4724400"/>
            <a:ext cx="113665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1B4F9C"/>
                </a:solidFill>
                <a:latin typeface="Calibri"/>
                <a:ea typeface="Calibri"/>
                <a:cs typeface="Calibri"/>
              </a:rPr>
              <a:t>Aditya     ·     Jitvan     ·     Rithesh</a:t>
            </a:r>
          </a:p>
        </p:txBody>
      </p:sp>
    </p:spTree>
    <p:extLst>
      <p:ext uri="{BB962C8B-B14F-4D97-AF65-F5344CB8AC3E}">
        <p14:creationId xmlns:p14="http://schemas.microsoft.com/office/powerpoint/2010/main" val="9867991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969783B-7746-49E7-9819-5D90112944DD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08cf68a-4319-4b34-93ff-77cd1d37eaa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1069</Words>
  <Application>Microsoft Office PowerPoint</Application>
  <PresentationFormat>Widescreen</PresentationFormat>
  <Paragraphs>129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Archivo Narrow</vt:lpstr>
      <vt:lpstr>Georgia</vt:lpstr>
      <vt:lpstr>Yellowtail</vt:lpstr>
      <vt:lpstr>Times New Roman</vt:lpstr>
      <vt:lpstr>Arial</vt:lpstr>
      <vt:lpstr>Archivo Narrow Medium</vt:lpstr>
      <vt:lpstr>Calibri</vt:lpstr>
      <vt:lpstr>IBM Plex Sans Condensed</vt:lpstr>
      <vt:lpstr>Simple Light</vt:lpstr>
      <vt:lpstr>Quantitative Anomalies as Market Opportunities</vt:lpstr>
      <vt:lpstr>Objectives of the Study</vt:lpstr>
      <vt:lpstr>Group Members &amp; Responsibilities</vt:lpstr>
      <vt:lpstr>Motivation for Selecting the Topic</vt:lpstr>
      <vt:lpstr>Literature Review of Our Data Sources</vt:lpstr>
      <vt:lpstr>Methodology — Four Statistical Pillars</vt:lpstr>
      <vt:lpstr>Analysis Plan</vt:lpstr>
      <vt:lpstr>Pilot Study Conducted to Date</vt:lpstr>
      <vt:lpstr>Future Plans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Mehta</cp:lastModifiedBy>
  <cp:revision>4</cp:revision>
  <dcterms:modified xsi:type="dcterms:W3CDTF">2026-07-26T16:18:55Z</dcterms:modified>
</cp:coreProperties>
</file>